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000">
                <a:solidFill>
                  <a:srgbClr val="1F4788"/>
                </a:solidFill>
              </a:rPr>
              <a:t>PerfSense: ML-Based Performance Regression
Predictor for React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74519"/>
            <a:ext cx="6400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2E75B6"/>
                </a:solidFill>
              </a:rPr>
              <a:t>Mid-Semester Viva Presentation</a:t>
            </a:r>
          </a:p>
          <a:p>
            <a:pPr algn="l"/>
            <a:r>
              <a:rPr b="0" sz="1000">
                <a:solidFill>
                  <a:srgbClr val="000000"/>
                </a:solidFill>
              </a:rPr>
              <a:t/>
            </a:r>
          </a:p>
          <a:p>
            <a:pPr algn="ctr"/>
            <a:r>
              <a:rPr b="1" sz="1600">
                <a:solidFill>
                  <a:srgbClr val="000000"/>
                </a:solidFill>
              </a:rPr>
              <a:t>CHETHAN S</a:t>
            </a:r>
          </a:p>
          <a:p>
            <a:pPr algn="ctr"/>
            <a:r>
              <a:rPr b="0" sz="1400">
                <a:solidFill>
                  <a:srgbClr val="000000"/>
                </a:solidFill>
              </a:rPr>
              <a:t>BITS ID: 2024TM93208</a:t>
            </a:r>
          </a:p>
          <a:p>
            <a:pPr algn="ctr"/>
            <a:r>
              <a:rPr b="0" sz="1300">
                <a:solidFill>
                  <a:srgbClr val="000000"/>
                </a:solidFill>
              </a:rPr>
              <a:t>MTech in Software Engineering | Specialization: Full Stack Engineering</a:t>
            </a:r>
          </a:p>
          <a:p>
            <a:pPr algn="ctr"/>
            <a:r>
              <a:rPr b="0" sz="1300">
                <a:solidFill>
                  <a:srgbClr val="000000"/>
                </a:solidFill>
              </a:rPr>
              <a:t>Course: S2-25_SEZG628T (Dissertation)</a:t>
            </a:r>
          </a:p>
          <a:p>
            <a:pPr algn="ctr"/>
            <a:r>
              <a:rPr b="0" sz="1300">
                <a:solidFill>
                  <a:srgbClr val="000000"/>
                </a:solidFill>
              </a:rPr>
              <a:t>Supervisor: Ankit Kagliwal</a:t>
            </a:r>
          </a:p>
          <a:p>
            <a:pPr algn="ctr"/>
            <a:r>
              <a:rPr b="0" sz="1300">
                <a:solidFill>
                  <a:srgbClr val="000000"/>
                </a:solidFill>
              </a:rPr>
              <a:t>Cadence Design Systems, Bengaluru</a:t>
            </a:r>
          </a:p>
          <a:p>
            <a:pPr algn="l"/>
            <a:r>
              <a:rPr b="0" sz="1000">
                <a:solidFill>
                  <a:srgbClr val="000000"/>
                </a:solidFill>
              </a:rPr>
              <a:t/>
            </a:r>
          </a:p>
          <a:p>
            <a:pPr algn="ctr"/>
            <a:r>
              <a:rPr b="1" sz="1400">
                <a:solidFill>
                  <a:srgbClr val="2E75B6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1F4788"/>
                </a:solidFill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7132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1F4788"/>
                </a:solidFill>
              </a:rPr>
              <a:t>1.  Introduction &amp; Problem Statement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2.  Literature Review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3.  Research Methodology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4.  Data Collection &amp; Feature Engineering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5.  ML Model Results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6.  Case Studies – Real-World Validation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7.  Implementation Status &amp; Next Steps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8.  Challenges &amp; Mitigation</a:t>
            </a:r>
          </a:p>
          <a:p>
            <a:pPr algn="l"/>
            <a:r>
              <a:rPr b="0" sz="1700">
                <a:solidFill>
                  <a:srgbClr val="000000"/>
                </a:solidFill>
              </a:rPr>
              <a:t>9. 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1F4788"/>
                </a:solidFill>
              </a:rPr>
              <a:t>Introduction: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1F4788"/>
                </a:solidFill>
              </a:rPr>
              <a:t>Performance Issues Are Expensive</a:t>
            </a:r>
          </a:p>
          <a:p>
            <a:pPr algn="l"/>
            <a:r>
              <a:rPr b="0" sz="1400">
                <a:solidFill>
                  <a:srgbClr val="000000"/>
                </a:solidFill>
              </a:rPr>
              <a:t>• 1-second delay → 7% drop in conversions</a:t>
            </a:r>
          </a:p>
          <a:p>
            <a:pPr algn="l"/>
            <a:r>
              <a:rPr b="0" sz="1400">
                <a:solidFill>
                  <a:srgbClr val="000000"/>
                </a:solidFill>
              </a:rPr>
              <a:t>• 1-second delay → 11% fewer page views</a:t>
            </a:r>
          </a:p>
          <a:p>
            <a:pPr algn="l"/>
            <a:r>
              <a:rPr b="0" sz="1400">
                <a:solidFill>
                  <a:srgbClr val="000000"/>
                </a:solidFill>
              </a:rPr>
              <a:t>• React apps: complexity ↑ = regression risk ↑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/>
            </a:r>
          </a:p>
          <a:p>
            <a:pPr algn="l"/>
            <a:r>
              <a:rPr b="1" sz="1600">
                <a:solidFill>
                  <a:srgbClr val="1F4788"/>
                </a:solidFill>
              </a:rPr>
              <a:t>Current Detection is Reactive</a:t>
            </a:r>
          </a:p>
          <a:p>
            <a:pPr algn="l"/>
            <a:r>
              <a:rPr b="0" sz="1400">
                <a:solidFill>
                  <a:srgbClr val="000000"/>
                </a:solidFill>
              </a:rPr>
              <a:t>• Issues discovered AFTER production deployment</a:t>
            </a:r>
          </a:p>
          <a:p>
            <a:pPr algn="l"/>
            <a:r>
              <a:rPr b="0" sz="1400">
                <a:solidFill>
                  <a:srgbClr val="000000"/>
                </a:solidFill>
              </a:rPr>
              <a:t>• Lighthouse, New Relic, Datadog: post-deploy only</a:t>
            </a:r>
          </a:p>
          <a:p>
            <a:pPr algn="l"/>
            <a:r>
              <a:rPr b="0" sz="1400">
                <a:solidFill>
                  <a:srgbClr val="000000"/>
                </a:solidFill>
              </a:rPr>
              <a:t>• Manual code reviews: 4–8 hrs/incident to debug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/>
            </a:r>
          </a:p>
          <a:p>
            <a:pPr algn="l"/>
            <a:r>
              <a:rPr b="1" sz="1600">
                <a:solidFill>
                  <a:srgbClr val="C00000"/>
                </a:solidFill>
              </a:rPr>
              <a:t>The Gap</a:t>
            </a:r>
          </a:p>
          <a:p>
            <a:pPr algn="l"/>
            <a:r>
              <a:rPr b="1" sz="1400">
                <a:solidFill>
                  <a:srgbClr val="C00000"/>
                </a:solidFill>
              </a:rPr>
              <a:t>No tool predicts performance impact BEFORE merge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822960"/>
            <a:ext cx="3200400" cy="39319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9144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What Existing Tools Do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Collect runtime metrics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Visualize trends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Alert on breach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/>
            </a:r>
          </a:p>
          <a:p>
            <a:pPr algn="l"/>
            <a:r>
              <a:rPr b="1" sz="1300">
                <a:solidFill>
                  <a:srgbClr val="C00000"/>
                </a:solidFill>
              </a:rPr>
              <a:t>What They Can't Do</a:t>
            </a:r>
          </a:p>
          <a:p>
            <a:pPr algn="l"/>
            <a:r>
              <a:rPr b="0" sz="1200">
                <a:solidFill>
                  <a:srgbClr val="C00000"/>
                </a:solidFill>
              </a:rPr>
              <a:t>✗ Predict before deployment</a:t>
            </a:r>
          </a:p>
          <a:p>
            <a:pPr algn="l"/>
            <a:r>
              <a:rPr b="0" sz="1200">
                <a:solidFill>
                  <a:srgbClr val="C00000"/>
                </a:solidFill>
              </a:rPr>
              <a:t>✗ Correlate code → perf</a:t>
            </a:r>
          </a:p>
          <a:p>
            <a:pPr algn="l"/>
            <a:r>
              <a:rPr b="0" sz="1200">
                <a:solidFill>
                  <a:srgbClr val="C00000"/>
                </a:solidFill>
              </a:rPr>
              <a:t>✗ Learn from history</a:t>
            </a:r>
          </a:p>
          <a:p>
            <a:pPr algn="l"/>
            <a:r>
              <a:rPr b="0" sz="1200">
                <a:solidFill>
                  <a:srgbClr val="C00000"/>
                </a:solidFill>
              </a:rPr>
              <a:t>✗ CI/CD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1F4788"/>
                </a:solidFill>
              </a:rP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1F4788"/>
                </a:solidFill>
              </a:rPr>
              <a:t>Primary Objective: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000000"/>
                </a:solidFill>
              </a:rPr>
              <a:t>Develop PerfSense — an intelligent platform that predicts performance regressions BEFORE deployment
by analyzing code changes using machine learning.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4124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920240" cy="265176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378636"/>
                </a:solidFill>
              </a:rPr>
              <a:t>Build ML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1920240" cy="27432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&gt; 75% accuracy
&gt; 70% precision
&gt; 60%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1828800"/>
            <a:ext cx="1920240" cy="265176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87451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E75B6"/>
                </a:solidFill>
              </a:rPr>
              <a:t>Feature 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2304288"/>
            <a:ext cx="19202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28 performance-relevant features
from git diffs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28800"/>
            <a:ext cx="1920240" cy="265176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1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E75B6"/>
                </a:solidFill>
              </a:rPr>
              <a:t>Monitoring SDK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304288"/>
            <a:ext cx="19202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3774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Core Web Vitals
&lt; 50 KB, &lt; 1% overhead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828800"/>
            <a:ext cx="1920240" cy="265176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187451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2E75B6"/>
                </a:solidFill>
              </a:rPr>
              <a:t>CI/CD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304288"/>
            <a:ext cx="192024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23774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GitHub webhook
Block high-risk merges
(prob ≥ 0.60)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2E75B6"/>
                </a:solidFill>
              </a:rPr>
              <a:t>Evaluate on 960 labeled commits from 8 open-source React repositories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1F4788"/>
                </a:solidFill>
              </a:rPr>
              <a:t>Literature Review: Performance Monitoring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402336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1F4788"/>
                </a:solidFill>
              </a:rPr>
              <a:t>Lighthouse (Google)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Automated auditing; scores LCP, FID, CLS, TTI.
POST-deployment only — requires a running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822960"/>
            <a:ext cx="402336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1F4788"/>
                </a:solidFill>
              </a:rPr>
              <a:t>WebPageTest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20700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Multi-location testing, waterfall charts.
Manual process; not suitable for CI/CD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402336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1F4788"/>
                </a:solidFill>
              </a:rPr>
              <a:t>New Relic / Datadog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APM platforms — real-user monitoring, dashboards.
Reactive; no predictive or pre-merge capability.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920240"/>
            <a:ext cx="402336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965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1F4788"/>
                </a:solidFill>
              </a:rPr>
              <a:t>React DevTools Profiler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0428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Component-level render timing.
Requires running application; not integrated into CI pipeline.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841248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1F4788"/>
                </a:solidFill>
              </a:rPr>
              <a:t>Sentry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0156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Error tracking + basic performance traces.  No code-change correlation or regression prediction.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C00000"/>
                </a:solidFill>
              </a:rPr>
              <a:t>Key Finding: No existing tool predicts performance impact BEFORE code is merged.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1F4788"/>
                </a:solidFill>
              </a:rPr>
              <a:t>Literature Review: ML in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F4788"/>
                </a:solidFill>
              </a:rPr>
              <a:t>Defect Prediction (prior art)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XGBoost / LightGBM: 75–85% accuracy on bug prediction
  (Chen &amp; Guestrin, 2016; Rosen et al., 2015)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Domain-specific features outperform generic metrics by 15–20%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Class imbalance (~5–15% defect rate) addressed with SMOTE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Cross-project drop: 10–15% accuracy — mitigated by diverse repo selection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/>
            </a:r>
          </a:p>
          <a:p>
            <a:pPr algn="l"/>
            <a:r>
              <a:rPr b="1" sz="1500">
                <a:solidFill>
                  <a:srgbClr val="1F4788"/>
                </a:solidFill>
              </a:rPr>
              <a:t>React Performance Research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Core Web Vitals (Google 2020): LCP, FID, CLS as standard metrics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Unnecessary re-renders, missing memo, heavy deps = top regression causes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Static diff analysis proved sufficient for commit-level pattern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822960"/>
            <a:ext cx="3200400" cy="3931920"/>
          </a:xfrm>
          <a:prstGeom prst="rect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06440" y="896112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7F6000"/>
                </a:solidFill>
              </a:rPr>
              <a:t>Confirmed Research Gap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/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No existing system:</a:t>
            </a:r>
          </a:p>
          <a:p>
            <a:pPr algn="l"/>
            <a:r>
              <a:rPr b="0" sz="1200">
                <a:solidFill>
                  <a:srgbClr val="000000"/>
                </a:solidFill>
              </a:rPr>
              <a:t>• Predicts perf regressions
  from code diffs</a:t>
            </a:r>
          </a:p>
          <a:p>
            <a:pPr algn="l"/>
            <a:r>
              <a:rPr b="0" sz="1200">
                <a:solidFill>
                  <a:srgbClr val="000000"/>
                </a:solidFill>
              </a:rPr>
              <a:t>• Uses React-specific ML
  feature engineering</a:t>
            </a:r>
          </a:p>
          <a:p>
            <a:pPr algn="l"/>
            <a:r>
              <a:rPr b="0" sz="1200">
                <a:solidFill>
                  <a:srgbClr val="000000"/>
                </a:solidFill>
              </a:rPr>
              <a:t>• Integrates into CI/CD
  pipeline pre-merge</a:t>
            </a:r>
          </a:p>
          <a:p>
            <a:pPr algn="l"/>
            <a:r>
              <a:rPr b="0" sz="800">
                <a:solidFill>
                  <a:srgbClr val="000000"/>
                </a:solidFill>
              </a:rPr>
              <a:t/>
            </a:r>
          </a:p>
          <a:p>
            <a:pPr algn="l"/>
            <a:r>
              <a:rPr b="1" sz="1300">
                <a:solidFill>
                  <a:srgbClr val="1F4788"/>
                </a:solidFill>
              </a:rPr>
              <a:t>PerfSense directly
addresses this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Research Methodology: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6-component microservices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265176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1. Monitoring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2468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00000"/>
                </a:solidFill>
              </a:rPr>
              <a:t>React 18+, TypeScript
LCP, FID, CLS via PerformanceObserver
&lt; 50 KB, &lt; 1%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468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378636"/>
                </a:solidFill>
              </a:rPr>
              <a:t>[BUILT]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79" y="841248"/>
            <a:ext cx="265176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88696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2. 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243584"/>
            <a:ext cx="2468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00000"/>
                </a:solidFill>
              </a:rPr>
              <a:t>Python 3.11, regex diff analysis
28 features per commit
960 commits in ~8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03120"/>
            <a:ext cx="2468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378636"/>
                </a:solidFill>
              </a:rPr>
              <a:t>[BUILT]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841248"/>
            <a:ext cx="265176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88696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3. ML Inference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1243584"/>
            <a:ext cx="2468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00000"/>
                </a:solidFill>
              </a:rPr>
              <a:t>FastAPI + XGBoost + SHAP
/predict/diff endpoint
&lt; 50 ms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103120"/>
            <a:ext cx="2468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378636"/>
                </a:solidFill>
              </a:rPr>
              <a:t>[BUILT]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23160"/>
            <a:ext cx="265176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68879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4. Backend API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25496"/>
            <a:ext cx="2468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00000"/>
                </a:solidFill>
              </a:rPr>
              <a:t>Node.js 18 + Express
Input validation, UUID tracing
POST /api/analyze/diff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685031"/>
            <a:ext cx="2468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378636"/>
                </a:solidFill>
              </a:rPr>
              <a:t>[BUILT]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79" y="2423160"/>
            <a:ext cx="265176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468879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5. Web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825496"/>
            <a:ext cx="2468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00000"/>
                </a:solidFill>
              </a:rPr>
              <a:t>React + Recharts
SHAP bars, risk timeline
Dark theme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685031"/>
            <a:ext cx="2468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378636"/>
                </a:solidFill>
              </a:rPr>
              <a:t>[BUILT]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423160"/>
            <a:ext cx="265176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2468879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2E75B6"/>
                </a:solidFill>
              </a:rPr>
              <a:t>6. GitHub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2825496"/>
            <a:ext cx="2468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00000"/>
                </a:solidFill>
              </a:rPr>
              <a:t>Webhook → backend pipeline
Block merge at prob ≥ 0.60
PR status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3685031"/>
            <a:ext cx="2468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2E75B6"/>
                </a:solidFill>
              </a:rPr>
              <a:t>[PLANNED]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Research Methodology: React Anti-Pattern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20+ patterns across 6 categories — drives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40233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5039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Render Inefficiencies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Inline arrow fns, missing React.memo,
nested component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2E75B6"/>
                </a:solidFill>
              </a:rPr>
              <a:t>Weight: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804672"/>
            <a:ext cx="40233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85039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Hook Misuse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1170432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Unguarded useEffect (no deps array),
excessive useState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783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2E75B6"/>
                </a:solidFill>
              </a:rPr>
              <a:t>Weight: 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66543"/>
            <a:ext cx="40233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12263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Bundle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32303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Heavy dependency additions (lodash,
moment, chart.js), dynamic imports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44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2E75B6"/>
                </a:solidFill>
              </a:rPr>
              <a:t>Weight: 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066543"/>
            <a:ext cx="40233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2112263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Code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432303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Cyclomatic complexity delta
(for/while/if/catch additions)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0449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2E75B6"/>
                </a:solidFill>
              </a:rPr>
              <a:t>Weight: 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28415"/>
            <a:ext cx="40233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74135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Context Overuse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694176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New Context.Provider wrappers,
global state mismanagement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30682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2E75B6"/>
                </a:solidFill>
              </a:rPr>
              <a:t>Weight: 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328415"/>
            <a:ext cx="402336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3374135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Debug Artifacts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3694176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console.log / console.error left in
production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30682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>
                <a:solidFill>
                  <a:srgbClr val="2E75B6"/>
                </a:solidFill>
              </a:rPr>
              <a:t>Weight: 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Research Methodology: 28-Feature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Extracted from unified git diffs using Python regex — no AST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8595360" cy="987552"/>
          </a:xfrm>
          <a:prstGeom prst="rect">
            <a:avLst/>
          </a:prstGeom>
          <a:solidFill>
            <a:srgbClr val="F2F2F2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50392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F1–F8  Static Code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8321040" cy="18288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8321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lines_added, lines_removed, files_changed,
complexity_delta, comment_delta,
import_count_delta, test_file_changed, package_json_changed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65376"/>
            <a:ext cx="8595360" cy="1170432"/>
          </a:xfrm>
          <a:prstGeom prst="rect">
            <a:avLst/>
          </a:prstGeom>
          <a:solidFill>
            <a:srgbClr val="F2F2F2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11095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F9–F20  React Pattern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31136"/>
            <a:ext cx="8321040" cy="18288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arrow_fn_added, inline_fn_count, useEffect_added,
useEffect_no_deps, useState_count, useCallback_added,
useMemo_added, memo_added, nested_component_added,
context_provider_added, lazy_added, console_log_added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8595360" cy="1719072"/>
          </a:xfrm>
          <a:prstGeom prst="rect">
            <a:avLst/>
          </a:prstGeom>
          <a:solidFill>
            <a:srgbClr val="F2F2F2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154680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F21–F28  Historical &amp; Composite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74720"/>
            <a:ext cx="8321040" cy="18288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11296"/>
            <a:ext cx="83210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F21–F23: prev_perf, trend_7d, time_since_regression  (sentinel −1: Lighthouse unavailable at scale)
F24: large_commit  (lines_added &gt; 200, weight +3)
F25: heavy_dep_added  (package.json ∧ import_delta &gt; 2)
F26: prop_drilling_depth    F27: key_prop_missing
F28: bundle_size_delta_proxy
Key decision: Regex over AST — 8× faster, sufficient for diff-level counting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Data Collection: Repository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8 open-source React repositories — 120 non-merge commits each = 960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59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859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859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859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859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Regression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435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facebook/react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435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Core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2435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2435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2435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18488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73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excalidraw/excalidraw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673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Drawing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673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673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67335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11.7%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048256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1031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ant-design/ant-design-pro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1031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Enterprise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1031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1031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1031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8.3%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478024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5328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facebook/docusaurus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5328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Docs 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5328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5328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5328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10.8%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07791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62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discourse/discourse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2962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Forum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2962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2962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2962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337559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39242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strapi/strapi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39242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CMS 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339242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39242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339242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29.2%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767328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82219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laurent22/joplin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382219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Note-taking 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382219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382219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382219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18.3%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97096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25195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calcom/cal.com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425195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Calendar SaaS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425195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Large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425195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425195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27.5%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Overall: 141 / 960 regressions (14.7%) — within the expected 10–15% class imbalance range.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Data Collection: Heuristic Proxy Labeling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Lighthouse CI on 960 historical commits ≈ 48 hrs compute — not feasible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F4788"/>
                </a:solidFill>
              </a:rPr>
              <a:t>Labeling Strategy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Each commit scored on 16 signals:</a:t>
            </a:r>
          </a:p>
          <a:p>
            <a:pPr algn="l"/>
            <a:r>
              <a:rPr b="0" sz="1200">
                <a:solidFill>
                  <a:srgbClr val="C00000"/>
                </a:solidFill>
              </a:rPr>
              <a:t>  +3  large_commit  (lines_added &gt; 200)</a:t>
            </a:r>
          </a:p>
          <a:p>
            <a:pPr algn="l"/>
            <a:r>
              <a:rPr b="0" sz="1200">
                <a:solidFill>
                  <a:srgbClr val="C00000"/>
                </a:solidFill>
              </a:rPr>
              <a:t>  +2  heavy_dep_added, 9 other positive signals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  −2  useCallback_added, 4 protective signals</a:t>
            </a:r>
          </a:p>
          <a:p>
            <a:pPr algn="l"/>
            <a:r>
              <a:rPr b="0" sz="1200">
                <a:solidFill>
                  <a:srgbClr val="2E75B6"/>
                </a:solidFill>
              </a:rPr>
              <a:t>  Auto-tuned threshold = 3  →  score ≥ threshold =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F4788"/>
                </a:solidFill>
              </a:rPr>
              <a:t>Lighthouse Validation (10 commits)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All 10 commits scored 51–55 (stable)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• 6/10 agreement with heuristic labels</a:t>
            </a:r>
          </a:p>
          <a:p>
            <a:pPr algn="l"/>
            <a:r>
              <a:rPr b="0" sz="1300">
                <a:solidFill>
                  <a:srgbClr val="C00000"/>
                </a:solidFill>
              </a:rPr>
              <a:t>• 4 false positives (large but stable commits)</a:t>
            </a:r>
          </a:p>
          <a:p>
            <a:pPr algn="l"/>
            <a:r>
              <a:rPr b="0" sz="1300">
                <a:solidFill>
                  <a:srgbClr val="378636"/>
                </a:solidFill>
              </a:rPr>
              <a:t>• 0 false negatives — conservative bias 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841248"/>
            <a:ext cx="3291840" cy="3566160"/>
          </a:xfrm>
          <a:prstGeom prst="rect">
            <a:avLst/>
          </a:prstGeom>
          <a:solidFill>
            <a:srgbClr val="F2F2F2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9144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4788"/>
                </a:solidFill>
              </a:rPr>
              <a:t>Dataset Statistics</a:t>
            </a:r>
          </a:p>
          <a:p>
            <a:pPr algn="l"/>
            <a:r>
              <a:rPr b="0" sz="700">
                <a:solidFill>
                  <a:srgbClr val="000000"/>
                </a:solidFill>
              </a:rPr>
              <a:t/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Total commits:    960</a:t>
            </a:r>
          </a:p>
          <a:p>
            <a:pPr algn="l"/>
            <a:r>
              <a:rPr b="1" sz="1300">
                <a:solidFill>
                  <a:srgbClr val="C00000"/>
                </a:solidFill>
              </a:rPr>
              <a:t>Regressions:      141</a:t>
            </a:r>
          </a:p>
          <a:p>
            <a:pPr algn="l"/>
            <a:r>
              <a:rPr b="0" sz="1300">
                <a:solidFill>
                  <a:srgbClr val="378636"/>
                </a:solidFill>
              </a:rPr>
              <a:t>Clean commits:    819</a:t>
            </a:r>
          </a:p>
          <a:p>
            <a:pPr algn="l"/>
            <a:r>
              <a:rPr b="0" sz="1300">
                <a:solidFill>
                  <a:srgbClr val="000000"/>
                </a:solidFill>
              </a:rPr>
              <a:t>Regression rate:  14.7%</a:t>
            </a:r>
          </a:p>
          <a:p>
            <a:pPr algn="l"/>
            <a:r>
              <a:rPr b="0" sz="700">
                <a:solidFill>
                  <a:srgbClr val="000000"/>
                </a:solidFill>
              </a:rPr>
              <a:t/>
            </a:r>
          </a:p>
          <a:p>
            <a:pPr algn="l"/>
            <a:r>
              <a:rPr b="1" sz="1300">
                <a:solidFill>
                  <a:srgbClr val="1F4788"/>
                </a:solidFill>
              </a:rPr>
              <a:t>Train / Val / Test Split</a:t>
            </a:r>
          </a:p>
          <a:p>
            <a:pPr algn="l"/>
            <a:r>
              <a:rPr b="0" sz="1200">
                <a:solidFill>
                  <a:srgbClr val="000000"/>
                </a:solidFill>
              </a:rPr>
              <a:t>70% / 10% / 20%  (chronological)</a:t>
            </a:r>
          </a:p>
          <a:p>
            <a:pPr algn="l"/>
            <a:r>
              <a:rPr b="0" sz="1200">
                <a:solidFill>
                  <a:srgbClr val="000000"/>
                </a:solidFill>
              </a:rPr>
              <a:t>SMOTE on training set only</a:t>
            </a:r>
          </a:p>
          <a:p>
            <a:pPr algn="l"/>
            <a:r>
              <a:rPr b="0" sz="1100">
                <a:solidFill>
                  <a:srgbClr val="2E75B6"/>
                </a:solidFill>
              </a:rPr>
              <a:t>Saved: data/features/features_labeled.csv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ML Model Training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Three models trained; XGBoost selected as primary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59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859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859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59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859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859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07008"/>
            <a:ext cx="859536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2710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2710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2710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0.748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710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0.846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2710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0.794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2710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0.966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682496"/>
            <a:ext cx="8595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465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17465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465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0.883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7465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0.885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7465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0.884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7465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157984"/>
            <a:ext cx="85953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2219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XGBoost ★ 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2219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2219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2219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2219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2219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0.9883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743200"/>
            <a:ext cx="4114800" cy="2194560"/>
          </a:xfrm>
          <a:prstGeom prst="rect">
            <a:avLst/>
          </a:prstGeom>
          <a:solidFill>
            <a:srgbClr val="E2EFDA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816352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378636"/>
                </a:solidFill>
              </a:rPr>
              <a:t>Dissertation Targets — ALL MET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 Accuracy  &gt; 75%  →  97.4%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 Precision &gt; 70%  →  93.8%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 Recall    &gt; 60%  →  90.0%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 F1-Score        →  91.8%</a:t>
            </a:r>
          </a:p>
          <a:p>
            <a:pPr algn="l"/>
            <a:r>
              <a:rPr b="0" sz="1200">
                <a:solidFill>
                  <a:srgbClr val="378636"/>
                </a:solidFill>
              </a:rPr>
              <a:t>✓  AUC-ROC         →  0.9883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743200"/>
            <a:ext cx="4297680" cy="219456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81635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XGBoost Configuration</a:t>
            </a:r>
          </a:p>
          <a:p>
            <a:pPr algn="l"/>
            <a:r>
              <a:rPr b="0" sz="1150">
                <a:solidFill>
                  <a:srgbClr val="000000"/>
                </a:solidFill>
              </a:rPr>
              <a:t>n_estimators: 500  |  max_depth: 5</a:t>
            </a:r>
          </a:p>
          <a:p>
            <a:pPr algn="l"/>
            <a:r>
              <a:rPr b="0" sz="1150">
                <a:solidFill>
                  <a:srgbClr val="000000"/>
                </a:solidFill>
              </a:rPr>
              <a:t>learning_rate: 0.05  |  subsample: 0.8</a:t>
            </a:r>
          </a:p>
          <a:p>
            <a:pPr algn="l"/>
            <a:r>
              <a:rPr b="0" sz="1150">
                <a:solidFill>
                  <a:srgbClr val="000000"/>
                </a:solidFill>
              </a:rPr>
              <a:t>colsample_bytree: 0.8</a:t>
            </a:r>
          </a:p>
          <a:p>
            <a:pPr algn="l"/>
            <a:r>
              <a:rPr b="0" sz="1150">
                <a:solidFill>
                  <a:srgbClr val="000000"/>
                </a:solidFill>
              </a:rPr>
              <a:t>Grid search: 5-fold CV on val set</a:t>
            </a:r>
          </a:p>
          <a:p>
            <a:pPr algn="l"/>
            <a:r>
              <a:rPr b="0" sz="1150">
                <a:solidFill>
                  <a:srgbClr val="000000"/>
                </a:solidFill>
              </a:rPr>
              <a:t>SHAP TreeExplainer for interpretability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SHAP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SHAP TreeExplainer — mean |SHAP| across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50">
                <a:solidFill>
                  <a:srgbClr val="1F4788"/>
                </a:solidFill>
              </a:rPr>
              <a:t>lines_added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877824"/>
            <a:ext cx="4572000" cy="2560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822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00000"/>
                </a:solidFill>
              </a:rPr>
              <a:t>0.412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7" y="822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Commit size — raw lines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50">
                <a:solidFill>
                  <a:srgbClr val="1F4788"/>
                </a:solidFill>
              </a:rPr>
              <a:t>large_commit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9304"/>
            <a:ext cx="4117019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6019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00000"/>
                </a:solidFill>
              </a:rPr>
              <a:t>0.371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7227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Binary: lines_added &gt; 200 (weight +3)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50">
                <a:solidFill>
                  <a:srgbClr val="1F4788"/>
                </a:solidFill>
              </a:rPr>
              <a:t>complexity_delta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00784"/>
            <a:ext cx="3207058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6058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000000"/>
                </a:solidFill>
              </a:rPr>
              <a:t>0.289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7266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Cyclomatic complexity added (for/if/while)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useEffect_added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112264"/>
            <a:ext cx="2075155" cy="25603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155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000000"/>
                </a:solidFill>
              </a:rPr>
              <a:t>0.187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363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New useEffect hooks in the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heavy_dep_added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523744"/>
            <a:ext cx="1731145" cy="25603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0145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000000"/>
                </a:solidFill>
              </a:rPr>
              <a:t>0.156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1353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Heavy dependency + import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useEffect_no_deps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935224"/>
            <a:ext cx="1487009" cy="25603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6009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000000"/>
                </a:solidFill>
              </a:rPr>
              <a:t>0.134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7217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useEffect without dependency array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nested_component_added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346704"/>
            <a:ext cx="1242873" cy="25603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1873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000000"/>
                </a:solidFill>
              </a:rPr>
              <a:t>0.112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081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Component defined inside another component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70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import_count_delta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758183"/>
            <a:ext cx="1087514" cy="25603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6514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000000"/>
                </a:solidFill>
              </a:rPr>
              <a:t>0.098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7722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Net new import statements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inline_fn_count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169663"/>
            <a:ext cx="965446" cy="25603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94446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000000"/>
                </a:solidFill>
              </a:rPr>
              <a:t>0.087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5654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Inline arrow functions as props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files_changed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4581144"/>
            <a:ext cx="821184" cy="25603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0184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000000"/>
                </a:solidFill>
              </a:rPr>
              <a:t>0.074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1392" y="4526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606060"/>
                </a:solidFill>
              </a:rPr>
              <a:t>Number of files touched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2E75B6"/>
                </a:solidFill>
              </a:rPr>
              <a:t>Insight: Commit size (lines_added, large_commit) dominates. React-specific features add signal on 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Cross-Repository Validation (Leave-One-Repo-Out)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Model trained on 7 repos, tested on held-out repo — 8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Left-Out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435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ant-design-pro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243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243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243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2435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1.000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09344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4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calcom/cal.com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16642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6642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6642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6642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029968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0848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discourse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0848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1.000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0848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0848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1.000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0848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1.000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450592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5054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docusaurus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25054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5054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5054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5054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871216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260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facebook/react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29260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7000"/>
                </a:solidFill>
              </a:rPr>
              <a:t>0.895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29260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29260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9260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0.882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291840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3467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joplin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C00000"/>
                </a:solidFill>
              </a:rPr>
              <a:t>0.833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0.982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0.857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0.812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712464"/>
            <a:ext cx="859536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strapi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3767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3767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0.998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3767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0.941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3767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0.941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33088"/>
            <a:ext cx="85953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187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excalidraw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4187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378636"/>
                </a:solidFill>
              </a:rPr>
              <a:t>0.917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4187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4187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4187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00000"/>
                </a:solidFill>
              </a:rPr>
              <a:t>0.917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378636"/>
                </a:solidFill>
              </a:rPr>
              <a:t>F1 range: 0.833 – 1.000 across all repos. AUC consistently &gt; 0.98. Confirms model generalizes beyond training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Real-World Validation: Case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3 synthetic React apps — deliberate regressions — end-to-end prediction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274320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868680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CS1: Task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2596896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8016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58.8% — 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64208"/>
            <a:ext cx="25968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4 unguarded useEffects, 2 nested
components, 8+ inline arrows,
removed all memoization
(69-line diff → large_commit=0)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090672"/>
            <a:ext cx="2596896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3145536"/>
            <a:ext cx="2596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E75B6"/>
                </a:solidFill>
              </a:rPr>
              <a:t>Correct: 69 lines, large_commit
not triggered. Model predicts
MEDIUM risk accurately.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804672"/>
            <a:ext cx="274320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868680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CS2: Product Catalog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3552" y="1261872"/>
            <a:ext cx="259689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28016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81.8% —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664208"/>
            <a:ext cx="25968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lodash/moment/chart.js/xlsx added,
152+ lines, 5 unguarded useEffects,
nested ProductCard + StatsBar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3090672"/>
            <a:ext cx="2596896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145536"/>
            <a:ext cx="2596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E75B6"/>
                </a:solidFill>
              </a:rPr>
              <a:t>Correct: heavy_dep_added
fired + large_commit. HIGH risk
correctly predicted.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04672"/>
            <a:ext cx="274320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868680"/>
            <a:ext cx="2596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788"/>
                </a:solidFill>
              </a:rPr>
              <a:t>CS3: Analytics Widget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261872"/>
            <a:ext cx="259689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1280160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98.9% —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1664208"/>
            <a:ext cx="25968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complexity_delta=12, 9 useState,
3 unguarded useEffects,
2 nested components,
11 console.logs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3090672"/>
            <a:ext cx="2596896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3145536"/>
            <a:ext cx="2596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E75B6"/>
                </a:solidFill>
              </a:rPr>
              <a:t>Correct: highest complexity
delta in dataset. Extreme HIGH
risk — model confident.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378636"/>
                </a:solidFill>
              </a:rPr>
              <a:t>Result: 3/3 regressions correctly detected. Zero false negatives. End-to-end latency &lt; 200 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Ahead of original schedule — ML + Services + Dashboard completed in Month 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859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8595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16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21615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21615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2161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20+ papers; gap 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53896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4813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4813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Architecture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4813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48132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6-component microservices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19072"/>
            <a:ext cx="8595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7465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174650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Repository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74650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74650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8 repos selected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984248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01167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011679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Commit Extraction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011679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11679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960 commits, 8 repos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49424"/>
            <a:ext cx="8595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2768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227685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Feature Engineering (28F)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2768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27685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Python regex diff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514600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5420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54203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Heuristic Proxy Labeling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25420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54203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141/960 regressions (14.7%)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779776"/>
            <a:ext cx="8595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8072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28072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ML Training + Grid 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28072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80720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F1=0.918, AUC=0.9883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044952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07238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307238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FastAPI Inference 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307238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07238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/predict/diff endpoint live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310128"/>
            <a:ext cx="8595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3375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3375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Node.js/Express Backend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33375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333756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Input validation, UUID tracing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575304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360273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7320" y="360273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Monitoring SDK (TS)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0" y="360273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360273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LCP/FID/CLS + React Profiler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840480"/>
            <a:ext cx="8595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38679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" y="386791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React Dashboard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38679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0" y="386791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SHAP bars, risk timeline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105656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41330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17320" y="413308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3 Case Studies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0" y="41330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378636"/>
                </a:solidFill>
              </a:rPr>
              <a:t>DONE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2240" y="41330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3/3 regressions detected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370831"/>
            <a:ext cx="8595360" cy="2468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4398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17320" y="439826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GitHub PR Integration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43982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2E75B6"/>
                </a:solidFill>
              </a:rPr>
              <a:t>TODO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439826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Webhook + status check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4636007"/>
            <a:ext cx="8595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46634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Month 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17320" y="46634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>
                <a:solidFill>
                  <a:srgbClr val="000000"/>
                </a:solidFill>
              </a:rPr>
              <a:t>Dissertation Writing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0" y="46634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50">
                <a:solidFill>
                  <a:srgbClr val="2E75B6"/>
                </a:solidFill>
              </a:rPr>
              <a:t>TODO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92240" y="466344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80–100 pages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1F4788"/>
                </a:solidFill>
              </a:rPr>
              <a:t>Challenges &amp; Mitigation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59536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C00000"/>
                </a:solidFill>
              </a:rPr>
              <a:t>Challenge: Lighthouse CI Scale (960 commits ≈ 48 hrs)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17043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Mitigation: Heuristic proxy labeling (16 signals, auto-tuned threshold=3).
Validated on 10-commit Lighthouse sample: 0 false negatives.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18488"/>
            <a:ext cx="8595360" cy="749808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55064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C00000"/>
                </a:solidFill>
              </a:rPr>
              <a:t>Challenge: Class Imbalance (14.7% regression rate)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659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Mitigation: SMOTE oversampling on training set only.
Preserved class distribution in validation and test sets.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14016"/>
            <a:ext cx="8595360" cy="749808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45059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C00000"/>
                </a:solidFill>
              </a:rPr>
              <a:t>Challenge: Cross-Project Generalization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61488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Mitigation: 8 diverse repos (small→large, tool→platform).
Leave-one-repo-out CV confirms F1 ≥ 0.833 for every repo.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9544"/>
            <a:ext cx="8595360" cy="749808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4612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2E75B6"/>
                </a:solidFill>
              </a:rPr>
              <a:t>Challenge: Python Regex Lookbehind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57015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Mitigation: Fixed-width lookbehind in re module — patterns simplified.
e.g. r'React\.memo\s*\(|=\s*memo\s*\(' for memo detection.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05072"/>
            <a:ext cx="8595360" cy="749808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04164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2E75B6"/>
                </a:solidFill>
              </a:rPr>
              <a:t>Challenge: Windows Unicode / Port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352544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00000"/>
                </a:solidFill>
              </a:rPr>
              <a:t>Mitigation: sys.stdout.reconfigure(encoding='utf-8') throughout.
netstat + taskkill replaces npx kill-port (which timed out).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600">
                <a:solidFill>
                  <a:srgbClr val="1F4788"/>
                </a:solidFill>
              </a:rPr>
              <a:t>Next Steps &amp; Revised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21207"/>
            <a:ext cx="8595360" cy="2743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57784"/>
            <a:ext cx="8595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E75B6"/>
                </a:solidFill>
              </a:rPr>
              <a:t>On track for June 2026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192024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850392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378636"/>
                </a:solidFill>
              </a:rPr>
              <a:t>Month 1
(Feb 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773936" cy="292608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71600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700784"/>
            <a:ext cx="17739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Literature review
Architecture design
Repo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79" y="804672"/>
            <a:ext cx="192024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850392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378636"/>
                </a:solidFill>
              </a:rPr>
              <a:t>Month 2
(Mar 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353312"/>
            <a:ext cx="1773936" cy="292608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371600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700784"/>
            <a:ext cx="17739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Data collection (960)
Feature engineering
Proxy labeling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804672"/>
            <a:ext cx="192024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37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850392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378636"/>
                </a:solidFill>
              </a:rPr>
              <a:t>Month 3
(Apr 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6592" y="1353312"/>
            <a:ext cx="1773936" cy="292608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371600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700784"/>
            <a:ext cx="17739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ML training (F1=0.918)
FastAPI service
Backend + Dashboard
Case studies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7999" y="804672"/>
            <a:ext cx="192024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1" y="850392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50">
                <a:solidFill>
                  <a:srgbClr val="2E75B6"/>
                </a:solidFill>
              </a:rPr>
              <a:t>Month 4
(May–Jun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1151" y="1353312"/>
            <a:ext cx="1773936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1" y="1371600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1" y="1700784"/>
            <a:ext cx="17739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00000"/>
                </a:solidFill>
              </a:rPr>
              <a:t>GitHub PR integration
Final evaluation
Ablation study
Dissertation writing
(80–100 pages)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E75B6"/>
                </a:solidFill>
              </a:rPr>
              <a:t>Immediate priority: GitHub PR webhook integration → dissertation writing (targeting final submission by June 2026)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1F4788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41248"/>
            <a:ext cx="1463040" cy="402336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87782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8696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F4788"/>
                </a:solidFill>
              </a:rPr>
              <a:t>Performance regressions discovered post-deployment — costing revenue and developer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44168"/>
            <a:ext cx="1463040" cy="4023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8074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8988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C00000"/>
                </a:solidFill>
              </a:rPr>
              <a:t>No existing tool predicts React performance impact from code changes before merge.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146304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88366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892807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2E75B6"/>
                </a:solidFill>
              </a:rPr>
              <a:t>PerfSense: ML pipeline that analyzes git diffs, extracts 28 features, and predicts regressions.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50008"/>
            <a:ext cx="1463040" cy="40233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38658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9572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202020"/>
                </a:solidFill>
              </a:rPr>
              <a:t>960 commits from 8 open-source React repos; 141 regressions (14.7%); chronological split.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52928"/>
            <a:ext cx="1463040" cy="402336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88950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9864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378636"/>
                </a:solidFill>
              </a:rPr>
              <a:t>XGBoost: F1=0.918, AUC=0.9883, Accuracy=97.4% — all dissertation targets exceeded.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55848"/>
            <a:ext cx="1463040" cy="402336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39242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Generalization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0156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378636"/>
                </a:solidFill>
              </a:rPr>
              <a:t>Leave-one-repo-out: F1 ≥ 0.833 for every repo. AUC &gt; 0.98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58768"/>
            <a:ext cx="1463040" cy="402336"/>
          </a:xfrm>
          <a:prstGeom prst="rect">
            <a:avLst/>
          </a:prstGeom>
          <a:solidFill>
            <a:srgbClr val="37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389534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90448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378636"/>
                </a:solidFill>
              </a:rPr>
              <a:t>3/3 real-world case studies correctly classified; end-to-end latency &lt; 200 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61688"/>
            <a:ext cx="146304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439826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407408"/>
            <a:ext cx="7040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2E75B6"/>
                </a:solidFill>
              </a:rPr>
              <a:t>Months 1–3 COMPLETE (ahead of schedule). Month 4: GitHub integration + dissertation writing.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1F4788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400">
                <a:solidFill>
                  <a:srgbClr val="2E75B6"/>
                </a:solidFill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514600"/>
            <a:ext cx="54864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33472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600">
                <a:solidFill>
                  <a:srgbClr val="000000"/>
                </a:solidFill>
              </a:rPr>
              <a:t>CHETHAN S</a:t>
            </a:r>
          </a:p>
          <a:p>
            <a:pPr algn="ctr"/>
            <a:r>
              <a:rPr b="0" sz="1400">
                <a:solidFill>
                  <a:srgbClr val="000000"/>
                </a:solidFill>
              </a:rPr>
              <a:t>BITS ID: 2024TM93208</a:t>
            </a:r>
          </a:p>
          <a:p>
            <a:pPr algn="ctr"/>
            <a:r>
              <a:rPr b="0" sz="1300">
                <a:solidFill>
                  <a:srgbClr val="000000"/>
                </a:solidFill>
              </a:rPr>
              <a:t>MTech Software Engineering — BITS Pilani WILP</a:t>
            </a:r>
          </a:p>
          <a:p>
            <a:pPr algn="ctr"/>
            <a:r>
              <a:rPr b="0" sz="1300">
                <a:solidFill>
                  <a:srgbClr val="000000"/>
                </a:solidFill>
              </a:rPr>
              <a:t>Supervisor: Ankit Kagliwal</a:t>
            </a:r>
          </a:p>
          <a:p>
            <a:pPr algn="ctr"/>
            <a:r>
              <a:rPr b="0" sz="1300">
                <a:solidFill>
                  <a:srgbClr val="2E75B6"/>
                </a:solidFill>
              </a:rPr>
              <a:t>chethans@cadence.com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